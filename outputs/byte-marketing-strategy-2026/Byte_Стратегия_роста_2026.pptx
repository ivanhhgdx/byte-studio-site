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858c8f49914881" /><Relationship Type="http://schemas.openxmlformats.org/officeDocument/2006/relationships/extended-properties" Target="/docProps/app.xml" Id="R118d7c3035e34326" /><Relationship Type="http://schemas.openxmlformats.org/officeDocument/2006/relationships/officeDocument" Target="/ppt/presentation.xml" Id="R4d66344c5c8849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7221e5ca4e4887"/>
  </p:sldMasterIdLst>
  <p:notesMasterIdLst>
    <p:notesMasterId xmlns:r="http://schemas.openxmlformats.org/officeDocument/2006/relationships" r:id="Rd209bcbb6b404519"/>
  </p:notesMasterIdLst>
  <p:sldIdLst>
    <p:sldId xmlns:r="http://schemas.openxmlformats.org/officeDocument/2006/relationships" id="256" r:id="Rb8443e4c96f549e2"/>
    <p:sldId xmlns:r="http://schemas.openxmlformats.org/officeDocument/2006/relationships" id="257" r:id="R7e74c3d4a9f546a1"/>
    <p:sldId xmlns:r="http://schemas.openxmlformats.org/officeDocument/2006/relationships" id="258" r:id="R53f05a2906934a5d"/>
    <p:sldId xmlns:r="http://schemas.openxmlformats.org/officeDocument/2006/relationships" id="259" r:id="R329938e44a1849b9"/>
    <p:sldId xmlns:r="http://schemas.openxmlformats.org/officeDocument/2006/relationships" id="260" r:id="R0e195d7f615c46eb"/>
    <p:sldId xmlns:r="http://schemas.openxmlformats.org/officeDocument/2006/relationships" id="261" r:id="R638aec8bce8d48cb"/>
    <p:sldId xmlns:r="http://schemas.openxmlformats.org/officeDocument/2006/relationships" id="262" r:id="Ra710cb64ecdb43a1"/>
    <p:sldId xmlns:r="http://schemas.openxmlformats.org/officeDocument/2006/relationships" id="263" r:id="Rc1bdfa200c59416d"/>
    <p:sldId xmlns:r="http://schemas.openxmlformats.org/officeDocument/2006/relationships" id="264" r:id="Rafbd9b39e7b6468c"/>
    <p:sldId xmlns:r="http://schemas.openxmlformats.org/officeDocument/2006/relationships" id="265" r:id="Ra291498bbc544ff2"/>
    <p:sldId xmlns:r="http://schemas.openxmlformats.org/officeDocument/2006/relationships" id="266" r:id="R513e617f5a0b4fed"/>
    <p:sldId xmlns:r="http://schemas.openxmlformats.org/officeDocument/2006/relationships" id="267" r:id="Re576317eb4ab4953"/>
    <p:sldId xmlns:r="http://schemas.openxmlformats.org/officeDocument/2006/relationships" id="268" r:id="Re01b59d1ffa149f0"/>
    <p:sldId xmlns:r="http://schemas.openxmlformats.org/officeDocument/2006/relationships" id="269" r:id="R0fb4aea9ea9f4ee2"/>
    <p:sldId xmlns:r="http://schemas.openxmlformats.org/officeDocument/2006/relationships" id="270" r:id="Rf0f4dbab07b44b3d"/>
    <p:sldId xmlns:r="http://schemas.openxmlformats.org/officeDocument/2006/relationships" id="271" r:id="Rd62f6c1c28ea48a4"/>
    <p:sldId xmlns:r="http://schemas.openxmlformats.org/officeDocument/2006/relationships" id="272" r:id="Rc78695386b5d4a0e"/>
    <p:sldId xmlns:r="http://schemas.openxmlformats.org/officeDocument/2006/relationships" id="273" r:id="R650dab0a14c54da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0993d1ae9c4723" /><Relationship Type="http://schemas.openxmlformats.org/officeDocument/2006/relationships/slideMaster" Target="/ppt/slideMasters/slideMaster1.xml" Id="Rfb7221e5ca4e4887" /><Relationship Type="http://schemas.openxmlformats.org/officeDocument/2006/relationships/notesMaster" Target="/ppt/notesMasters/notesMaster1.xml" Id="Rd209bcbb6b404519" /><Relationship Type="http://schemas.openxmlformats.org/officeDocument/2006/relationships/presProps" Target="/ppt/presProps.xml" Id="R446fc2e2f46b4022" /><Relationship Type="http://schemas.openxmlformats.org/officeDocument/2006/relationships/tableStyles" Target="/ppt/tableStyles.xml" Id="Re4a4d50c4d6140af" /><Relationship Type="http://schemas.openxmlformats.org/officeDocument/2006/relationships/slide" Target="/ppt/slides/slide1.xml" Id="Rb8443e4c96f549e2" /><Relationship Type="http://schemas.openxmlformats.org/officeDocument/2006/relationships/slide" Target="/ppt/slides/slide2.xml" Id="R7e74c3d4a9f546a1" /><Relationship Type="http://schemas.openxmlformats.org/officeDocument/2006/relationships/slide" Target="/ppt/slides/slide3.xml" Id="R53f05a2906934a5d" /><Relationship Type="http://schemas.openxmlformats.org/officeDocument/2006/relationships/slide" Target="/ppt/slides/slide4.xml" Id="R329938e44a1849b9" /><Relationship Type="http://schemas.openxmlformats.org/officeDocument/2006/relationships/slide" Target="/ppt/slides/slide5.xml" Id="R0e195d7f615c46eb" /><Relationship Type="http://schemas.openxmlformats.org/officeDocument/2006/relationships/slide" Target="/ppt/slides/slide6.xml" Id="R638aec8bce8d48cb" /><Relationship Type="http://schemas.openxmlformats.org/officeDocument/2006/relationships/slide" Target="/ppt/slides/slide7.xml" Id="Ra710cb64ecdb43a1" /><Relationship Type="http://schemas.openxmlformats.org/officeDocument/2006/relationships/slide" Target="/ppt/slides/slide8.xml" Id="Rc1bdfa200c59416d" /><Relationship Type="http://schemas.openxmlformats.org/officeDocument/2006/relationships/slide" Target="/ppt/slides/slide9.xml" Id="Rafbd9b39e7b6468c" /><Relationship Type="http://schemas.openxmlformats.org/officeDocument/2006/relationships/slide" Target="/ppt/slides/slide10.xml" Id="Ra291498bbc544ff2" /><Relationship Type="http://schemas.openxmlformats.org/officeDocument/2006/relationships/slide" Target="/ppt/slides/slide11.xml" Id="R513e617f5a0b4fed" /><Relationship Type="http://schemas.openxmlformats.org/officeDocument/2006/relationships/slide" Target="/ppt/slides/slide12.xml" Id="Re576317eb4ab4953" /><Relationship Type="http://schemas.openxmlformats.org/officeDocument/2006/relationships/slide" Target="/ppt/slides/slide13.xml" Id="Re01b59d1ffa149f0" /><Relationship Type="http://schemas.openxmlformats.org/officeDocument/2006/relationships/slide" Target="/ppt/slides/slide14.xml" Id="R0fb4aea9ea9f4ee2" /><Relationship Type="http://schemas.openxmlformats.org/officeDocument/2006/relationships/slide" Target="/ppt/slides/slide15.xml" Id="Rf0f4dbab07b44b3d" /><Relationship Type="http://schemas.openxmlformats.org/officeDocument/2006/relationships/slide" Target="/ppt/slides/slide16.xml" Id="Rd62f6c1c28ea48a4" /><Relationship Type="http://schemas.openxmlformats.org/officeDocument/2006/relationships/slide" Target="/ppt/slides/slide17.xml" Id="Rc78695386b5d4a0e" /><Relationship Type="http://schemas.openxmlformats.org/officeDocument/2006/relationships/slide" Target="/ppt/slides/slide18.xml" Id="R650dab0a14c54d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85d081ef204b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8de93bf2fe414e" /><Relationship Type="http://schemas.openxmlformats.org/officeDocument/2006/relationships/notesMaster" Target="/ppt/notesMasters/notesMaster1.xml" Id="Rb5899a90a98841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ebc5db0a4d4a7b" /><Relationship Type="http://schemas.openxmlformats.org/officeDocument/2006/relationships/notesMaster" Target="/ppt/notesMasters/notesMaster1.xml" Id="R0d89b480ea444a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ec0611a7a545c3" /><Relationship Type="http://schemas.openxmlformats.org/officeDocument/2006/relationships/notesMaster" Target="/ppt/notesMasters/notesMaster1.xml" Id="Re27c908028cf42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80bc602a8245d5" /><Relationship Type="http://schemas.openxmlformats.org/officeDocument/2006/relationships/notesMaster" Target="/ppt/notesMasters/notesMaster1.xml" Id="R727dc5d103294b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664d00e8e843f0" /><Relationship Type="http://schemas.openxmlformats.org/officeDocument/2006/relationships/notesMaster" Target="/ppt/notesMasters/notesMaster1.xml" Id="R669dc821617445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8a358aabb54993" /><Relationship Type="http://schemas.openxmlformats.org/officeDocument/2006/relationships/notesMaster" Target="/ppt/notesMasters/notesMaster1.xml" Id="R7365677ef01d46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0ee9ef2aad4527" /><Relationship Type="http://schemas.openxmlformats.org/officeDocument/2006/relationships/notesMaster" Target="/ppt/notesMasters/notesMaster1.xml" Id="Rba9223a9fca44d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48f61bc63a4978" /><Relationship Type="http://schemas.openxmlformats.org/officeDocument/2006/relationships/notesMaster" Target="/ppt/notesMasters/notesMaster1.xml" Id="R66ccf847a56b41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a7abc00d64462c" /><Relationship Type="http://schemas.openxmlformats.org/officeDocument/2006/relationships/notesMaster" Target="/ppt/notesMasters/notesMaster1.xml" Id="R4631b4d4bef54bd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f4f18f01024e80" /><Relationship Type="http://schemas.openxmlformats.org/officeDocument/2006/relationships/notesMaster" Target="/ppt/notesMasters/notesMaster1.xml" Id="R794267a8c57041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92d30c2e9754f84" /><Relationship Type="http://schemas.openxmlformats.org/officeDocument/2006/relationships/notesMaster" Target="/ppt/notesMasters/notesMaster1.xml" Id="R1368d7bb98ba466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4822335b9974353" /><Relationship Type="http://schemas.openxmlformats.org/officeDocument/2006/relationships/notesMaster" Target="/ppt/notesMasters/notesMaster1.xml" Id="Rdacc7aaf49b6450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4d7e18bc7f24706" /><Relationship Type="http://schemas.openxmlformats.org/officeDocument/2006/relationships/notesMaster" Target="/ppt/notesMasters/notesMaster1.xml" Id="R575e630fcd2648c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b24bd97b5a74a0b" /><Relationship Type="http://schemas.openxmlformats.org/officeDocument/2006/relationships/notesMaster" Target="/ppt/notesMasters/notesMaster1.xml" Id="R82504c38c3534af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066392aca5448ec" /><Relationship Type="http://schemas.openxmlformats.org/officeDocument/2006/relationships/notesMaster" Target="/ppt/notesMasters/notesMaster1.xml" Id="Rc2fdd0a3909444d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93bac0386b1406a" /><Relationship Type="http://schemas.openxmlformats.org/officeDocument/2006/relationships/notesMaster" Target="/ppt/notesMasters/notesMaster1.xml" Id="Rac256b0deccb4cc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a04a40896274764" /><Relationship Type="http://schemas.openxmlformats.org/officeDocument/2006/relationships/notesMaster" Target="/ppt/notesMasters/notesMaster1.xml" Id="R0d6c5ac3a039492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1ff42070fa44079" /><Relationship Type="http://schemas.openxmlformats.org/officeDocument/2006/relationships/notesMaster" Target="/ppt/notesMasters/notesMaster1.xml" Id="R446f0575ced14e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b533f7613044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3281c9fd214f4a" /><Relationship Type="http://schemas.openxmlformats.org/officeDocument/2006/relationships/slideLayout" Target="/ppt/slideLayouts/slideLayout1.xml" Id="Rf94442a6927147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4442a6927147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d11d9afb64bfb" /><Relationship Type="http://schemas.openxmlformats.org/officeDocument/2006/relationships/image" Target="/ppt/media/image.jpeg" Id="R934758ed9d45499b" /><Relationship Type="http://schemas.openxmlformats.org/officeDocument/2006/relationships/notesSlide" Target="/ppt/notesSlides/notesSlide1.xml" Id="Rb72e5979265c41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df0dfb3b20407b" /><Relationship Type="http://schemas.openxmlformats.org/officeDocument/2006/relationships/notesSlide" Target="/ppt/notesSlides/notesSlide2.xml" Id="R1ce8ac5689f146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b9050e15f4999" /><Relationship Type="http://schemas.openxmlformats.org/officeDocument/2006/relationships/notesSlide" Target="/ppt/notesSlides/notesSlide3.xml" Id="R43a2d4caf1e749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6f38874a74bb7" /><Relationship Type="http://schemas.openxmlformats.org/officeDocument/2006/relationships/notesSlide" Target="/ppt/notesSlides/notesSlide4.xml" Id="Raea2cdc1410d4d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37b1eeb6c4249" /><Relationship Type="http://schemas.openxmlformats.org/officeDocument/2006/relationships/notesSlide" Target="/ppt/notesSlides/notesSlide5.xml" Id="R6814aea30b1a42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c592911904d1c" /><Relationship Type="http://schemas.openxmlformats.org/officeDocument/2006/relationships/notesSlide" Target="/ppt/notesSlides/notesSlide6.xml" Id="Radb4c24419f14d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7b1d8fc394156" /><Relationship Type="http://schemas.openxmlformats.org/officeDocument/2006/relationships/image" Target="/ppt/media/image.png" Id="Rc8214b4cf55e4166" /><Relationship Type="http://schemas.openxmlformats.org/officeDocument/2006/relationships/image" Target="/ppt/media/image2.png" Id="R152944ae8f504d23" /><Relationship Type="http://schemas.openxmlformats.org/officeDocument/2006/relationships/notesSlide" Target="/ppt/notesSlides/notesSlide7.xml" Id="R17f31cfe00a947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39255ef244ea1" /><Relationship Type="http://schemas.openxmlformats.org/officeDocument/2006/relationships/notesSlide" Target="/ppt/notesSlides/notesSlide8.xml" Id="R9af5529272d94f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97bf5a25b4f2e" /><Relationship Type="http://schemas.openxmlformats.org/officeDocument/2006/relationships/notesSlide" Target="/ppt/notesSlides/notesSlide9.xml" Id="Rffc2c1d78b5849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dfec81f2349e8" /><Relationship Type="http://schemas.openxmlformats.org/officeDocument/2006/relationships/notesSlide" Target="/ppt/notesSlides/notesSlide10.xml" Id="R6ea09b47c7dd4e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7a79ac8344e19" /><Relationship Type="http://schemas.openxmlformats.org/officeDocument/2006/relationships/notesSlide" Target="/ppt/notesSlides/notesSlide11.xml" Id="Rbd4d3ee9c96a43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b791cbf564d24" /><Relationship Type="http://schemas.openxmlformats.org/officeDocument/2006/relationships/notesSlide" Target="/ppt/notesSlides/notesSlide12.xml" Id="R7a0318b429ee43f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dbb733d164b7e" /><Relationship Type="http://schemas.openxmlformats.org/officeDocument/2006/relationships/notesSlide" Target="/ppt/notesSlides/notesSlide13.xml" Id="R1205447542be463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cec8c980b4743" /><Relationship Type="http://schemas.openxmlformats.org/officeDocument/2006/relationships/notesSlide" Target="/ppt/notesSlides/notesSlide14.xml" Id="R1f51fe28dbb14cd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12940353f4f89" /><Relationship Type="http://schemas.openxmlformats.org/officeDocument/2006/relationships/notesSlide" Target="/ppt/notesSlides/notesSlide15.xml" Id="R8145eecbc0834bb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2ebea23fbb47cb" /><Relationship Type="http://schemas.openxmlformats.org/officeDocument/2006/relationships/notesSlide" Target="/ppt/notesSlides/notesSlide16.xml" Id="Rc891d8a5b19e4fd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8689e5c664058" /><Relationship Type="http://schemas.openxmlformats.org/officeDocument/2006/relationships/notesSlide" Target="/ppt/notesSlides/notesSlide17.xml" Id="R13f0513a3bac491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b1840c8df4df0" /><Relationship Type="http://schemas.openxmlformats.org/officeDocument/2006/relationships/notesSlide" Target="/ppt/notesSlides/notesSlide18.xml" Id="R9ba80ceabd7345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5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4758ed9d45499b"/>
          <a:srcRect xmlns:a="http://schemas.openxmlformats.org/drawingml/2006/main" l="26094" t="0" r="260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8293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CF2F79-C584-40E8-B058-AD74F657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0"/>
            <a:ext cx="6362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E5940-6A33-41D5-AD70-C01D6F46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905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ABB2"/>
                </a:solidFill>
                <a:latin typeface="Arial"/>
                <a:ea typeface="Arial"/>
                <a:cs typeface="Arial"/>
              </a:rPr>
              <a:t>BYTE / КОМАНДНАЯ СТРАТЕГИЯ / ИЮЛЬ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3CD1E-9C55-4641-83DD-266564BC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28750"/>
            <a:ext cx="49530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Качество</a:t>
            </a:r>
          </a:p>
          <a:p xmlns:a="http://schemas.openxmlformats.org/drawingml/2006/main">
            <a:pPr algn="l">
              <a:defRPr sz="4125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само себя</a:t>
            </a:r>
          </a:p>
          <a:p xmlns:a="http://schemas.openxmlformats.org/drawingml/2006/main">
            <a:pPr algn="l">
              <a:defRPr sz="4125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не продаст.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5E10A-8DFE-4704-9C09-33D8549A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0525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7ABB2"/>
                </a:solidFill>
                <a:latin typeface="Arial"/>
                <a:ea typeface="Arial"/>
                <a:cs typeface="Arial"/>
              </a:rPr>
              <a:t>Byte не нужен большой бюджет. Нужна машина, которая каждую неделю превращает работу в доказательство — и доказательство в разговор с владельцем.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EDC6F-DB26-453D-A127-8BE96413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673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DE69D9-28D4-4ADC-AEC2-A158002C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769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Цель: 3 Proof Page + 1 платное предложение за первые 10 рабочих дней</a:t>
            </a:r>
          </a:p>
        </p:txBody>
      </p:sp>
    </p:spTree>
    <p:extLst>
      <p:ext uri="{BB962C8B-B14F-4D97-AF65-F5344CB8AC3E}">
        <p14:creationId xmlns:p14="http://schemas.microsoft.com/office/powerpoint/2010/main" val="19992560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0EF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5F688A-8497-45C2-82DB-29B28AD4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A70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7078"/>
                </a:solidFill>
                <a:latin typeface="Arial"/>
                <a:ea typeface="Arial"/>
                <a:cs typeface="Arial"/>
              </a:rPr>
              <a:t>BYTE / СТРАТЕГИЯ РОСТА /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A404A-ABE9-4B9C-AEC6-594F9843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4"/>
                </a:solidFill>
                <a:latin typeface="Arial"/>
                <a:ea typeface="Arial"/>
                <a:cs typeface="Arial"/>
              </a:rPr>
              <a:t>Сейчас Byte сильнее в производстве, чем в продажах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AC4ADB-A301-47E4-B1C4-4D76A241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D91101-8039-41B7-A3EA-F901AE5B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СИЛЬНО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AB840D-92CE-4F50-9340-10D37BED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4572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4"/>
                </a:solidFill>
                <a:latin typeface="Arial"/>
                <a:ea typeface="Arial"/>
                <a:cs typeface="Arial"/>
              </a:rPr>
              <a:t>Визуальная зрелость</a:t>
            </a:r>
          </a:p>
          <a:p xmlns:a="http://schemas.openxmlformats.org/drawingml/2006/main">
            <a:pPr algn="l">
              <a:defRPr sz="1950" b="1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4"/>
                </a:solidFill>
                <a:latin typeface="Arial"/>
                <a:ea typeface="Arial"/>
                <a:cs typeface="Arial"/>
              </a:rPr>
              <a:t>Сайты + сервисы + автоматизация</a:t>
            </a:r>
          </a:p>
          <a:p xmlns:a="http://schemas.openxmlformats.org/drawingml/2006/main">
            <a:pPr algn="l">
              <a:defRPr sz="1950" b="1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4"/>
                </a:solidFill>
                <a:latin typeface="Arial"/>
                <a:ea typeface="Arial"/>
                <a:cs typeface="Arial"/>
              </a:rPr>
              <a:t>Быстрый прототип и запуск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A2F87-0ADE-497E-A9E0-29244133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95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16D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16D6D"/>
                </a:solidFill>
                <a:latin typeface="Arial"/>
                <a:ea typeface="Arial"/>
                <a:cs typeface="Arial"/>
              </a:rPr>
              <a:t>НЕ ДОКАЗАНО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D42403-0A50-4E33-A865-A6EFE108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19350"/>
            <a:ext cx="4572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4"/>
                </a:solidFill>
                <a:latin typeface="Arial"/>
                <a:ea typeface="Arial"/>
                <a:cs typeface="Arial"/>
              </a:rPr>
              <a:t>Публичные результаты</a:t>
            </a:r>
          </a:p>
          <a:p xmlns:a="http://schemas.openxmlformats.org/drawingml/2006/main">
            <a:pPr algn="l">
              <a:defRPr sz="1950" b="1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4"/>
                </a:solidFill>
                <a:latin typeface="Arial"/>
                <a:ea typeface="Arial"/>
                <a:cs typeface="Arial"/>
              </a:rPr>
              <a:t>Продуктовая лестница</a:t>
            </a:r>
          </a:p>
          <a:p xmlns:a="http://schemas.openxmlformats.org/drawingml/2006/main">
            <a:pPr algn="l">
              <a:defRPr sz="1950" b="1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4"/>
                </a:solidFill>
                <a:latin typeface="Arial"/>
                <a:ea typeface="Arial"/>
                <a:cs typeface="Arial"/>
              </a:rPr>
              <a:t>Регулярный выход к рынку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DBE2FD-6705-4698-9EE0-1E84EE82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8E14E3-0346-4342-88FB-8FC9CA42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4"/>
                </a:solidFill>
                <a:latin typeface="Arial"/>
                <a:ea typeface="Arial"/>
                <a:cs typeface="Arial"/>
              </a:rPr>
              <a:t>Рынок не платит за скрытый потенциал.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02F4EC-DE3A-4E35-A66A-A255E14D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E74B5"/>
                </a:solidFill>
                <a:latin typeface="Arial"/>
                <a:ea typeface="Arial"/>
                <a:cs typeface="Arial"/>
              </a:rPr>
              <a:t>Он платит за понятный риск, видимый результат и настойчивый следующий шаг.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DEF581-F1D1-4366-9568-3AAD236D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277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27780"/>
                </a:solidFill>
                <a:latin typeface="Arial"/>
                <a:ea typeface="Arial"/>
                <a:cs typeface="Arial"/>
              </a:rPr>
              <a:t>Аудит текущих публичных материалов Byte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F23EED-EDDD-4C39-AAB1-9523C832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277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277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105057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5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15BD16-5842-474E-A9D2-C19E0FCA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ABB2"/>
                </a:solidFill>
                <a:latin typeface="Arial"/>
                <a:ea typeface="Arial"/>
                <a:cs typeface="Arial"/>
              </a:rPr>
              <a:t>BYTE / СТРАТЕГИЯ РОСТА /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06D89-1A88-4D08-9E34-FAC4DC4C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Рынок достаточно большой — проблема не в спросе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F110D-BFE1-4408-AB8C-9B02ECCF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4DE9E6-4E29-449A-948E-002249B7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84D5FF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84D5FF"/>
                </a:solidFill>
                <a:latin typeface="Arial"/>
                <a:ea typeface="Arial"/>
                <a:cs typeface="Arial"/>
              </a:rPr>
              <a:t>113 787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01B7B-0469-422F-84A9-DBC2656A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6F5F0"/>
                </a:solidFill>
                <a:latin typeface="Arial"/>
                <a:ea typeface="Arial"/>
                <a:cs typeface="Arial"/>
              </a:rPr>
              <a:t>субъектов МСП в Красноярском крае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40DAB1-0A40-49E6-82C3-6113D732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9550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109 611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E51DE-77F6-44CC-A598-F4E85424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575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6F5F0"/>
                </a:solidFill>
                <a:latin typeface="Arial"/>
                <a:ea typeface="Arial"/>
                <a:cs typeface="Arial"/>
              </a:rPr>
              <a:t>из них — микропредприятия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68F49D-2F6B-436B-87F5-9FE7CF98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95500"/>
            <a:ext cx="352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84D5FF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84D5FF"/>
                </a:solidFill>
                <a:latin typeface="Arial"/>
                <a:ea typeface="Arial"/>
                <a:cs typeface="Arial"/>
              </a:rPr>
              <a:t>2,0 млрд 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B29E3-FBF1-4871-8967-B6089C2F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5750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6F5F0"/>
                </a:solidFill>
                <a:latin typeface="Arial"/>
                <a:ea typeface="Arial"/>
                <a:cs typeface="Arial"/>
              </a:rPr>
              <a:t>интернет-сервисы в рекламном рынке Красноярска за 2025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C815F9-7CCB-4B45-BCA8-492B136E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3753EA-4EF0-4FA3-8795-ACE277B6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Даже 0,1% локального поля — десятки клиентов.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2D4967-0215-4680-AC42-0355676F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7ABB2"/>
                </a:solidFill>
                <a:latin typeface="Arial"/>
                <a:ea typeface="Arial"/>
                <a:cs typeface="Arial"/>
              </a:rPr>
              <a:t>Вывод: Byte нужна не широкая реклама, а точный фильтр и регулярный контакт.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62FF28-764E-4314-A4B7-D82F29CF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7ABB2"/>
                </a:solidFill>
                <a:latin typeface="Arial"/>
                <a:ea typeface="Arial"/>
                <a:cs typeface="Arial"/>
              </a:rPr>
              <a:t>ФНС, 10.07.2026; АКАР, рынок маркетинговых коммуникаций 2025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9F8D9E-FAA3-4E3D-A46F-D31DF3F4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ABB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177923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0EF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70B528-9C17-48E4-876D-5FB4DCA2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A70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7078"/>
                </a:solidFill>
                <a:latin typeface="Arial"/>
                <a:ea typeface="Arial"/>
                <a:cs typeface="Arial"/>
              </a:rPr>
              <a:t>BYTE / СТРАТЕГИЯ РОСТА /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FE491C-E9E8-412C-BE1F-D62E4287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4"/>
                </a:solidFill>
                <a:latin typeface="Arial"/>
                <a:ea typeface="Arial"/>
                <a:cs typeface="Arial"/>
              </a:rPr>
              <a:t>«Сделать сайт» уже продают все — и по любой цене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5592B-7863-4ED8-A642-103F1FF9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EB62A-5635-4288-B428-BED3D506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4"/>
                </a:solidFill>
                <a:latin typeface="Arial"/>
                <a:ea typeface="Arial"/>
                <a:cs typeface="Arial"/>
              </a:rPr>
              <a:t>ALPHA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F0C4F-53A1-4BEF-811F-EE86BC73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145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от 35 тыс. 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497E7D-8C49-43A3-AEDF-4FE5E276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14550"/>
            <a:ext cx="657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4"/>
                </a:solidFill>
                <a:latin typeface="Arial"/>
                <a:ea typeface="Arial"/>
                <a:cs typeface="Arial"/>
              </a:rPr>
              <a:t>показывает дизайн главной до договора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0820B-A2D8-43D8-81CD-1A9B71A1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F4BC7C-F59B-453A-A373-FA1EA33D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4"/>
                </a:solidFill>
                <a:latin typeface="Arial"/>
                <a:ea typeface="Arial"/>
                <a:cs typeface="Arial"/>
              </a:rPr>
              <a:t>LID.AM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95CEBD-DAB0-4134-9C95-FF898064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051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landing от 51 тыс. 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2CDFE7-A22D-4F1E-8A57-7FAB258C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05150"/>
            <a:ext cx="657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4"/>
                </a:solidFill>
                <a:latin typeface="Arial"/>
                <a:ea typeface="Arial"/>
                <a:cs typeface="Arial"/>
              </a:rPr>
              <a:t>массовый каталог и прозрачная цена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149198-9A7B-4DBB-96FD-A21E8660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07B3D5-27C8-4F2D-82B6-5C90529E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4"/>
                </a:solidFill>
                <a:latin typeface="Arial"/>
                <a:ea typeface="Arial"/>
                <a:cs typeface="Arial"/>
              </a:rPr>
              <a:t>Старта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1B8CF5-F04D-467A-B13D-2CAF67C4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957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120–300 тыс. 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B5F65E-8C30-4B6D-B454-19FD04F3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657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4"/>
                </a:solidFill>
                <a:latin typeface="Arial"/>
                <a:ea typeface="Arial"/>
                <a:cs typeface="Arial"/>
              </a:rPr>
              <a:t>процесс, аналитика, CRM, менеджмент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40B6B7-A55F-4272-9E87-D494AE51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90EE0B-D9E9-410C-B41E-4BEACE5C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66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FBDA9D-2F6E-40B0-8CE4-01B95EE8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14975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Копировать бесплатный дизайн — войти в гонку бесплатной работы.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C19F50-601D-4208-8D0F-500CDBC1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277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27780"/>
                </a:solidFill>
                <a:latin typeface="Arial"/>
                <a:ea typeface="Arial"/>
                <a:cs typeface="Arial"/>
              </a:rPr>
              <a:t>Публичные предложения alpha-krsk.ru, krasnoyarsk.lid.am, starta.ru; проверено 11.07.2026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29DDFA-08B4-431A-91C7-202EAEFC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277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277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382883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5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544D32-FCCE-447C-87E4-A5D0C00D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ABB2"/>
                </a:solidFill>
                <a:latin typeface="Arial"/>
                <a:ea typeface="Arial"/>
                <a:cs typeface="Arial"/>
              </a:rPr>
              <a:t>BYTE / СТРАТЕГИЯ РОСТА /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00DB2-7DDF-47A1-8CCC-0C06F6F6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599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Свободная позиция Byte: показать не картинку, а сценарий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E73263-D19A-4188-A003-89CEE28D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CFE097-59F9-422D-B605-43AC71D4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ABB2"/>
                </a:solidFill>
                <a:latin typeface="Arial"/>
                <a:ea typeface="Arial"/>
                <a:cs typeface="Arial"/>
              </a:rPr>
              <a:t>ДЕШЁВАЯ СБОРКА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A0BA3-261E-439F-840E-F463CFAA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66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Быстро и дёшево.</a:t>
            </a:r>
          </a:p>
          <a:p xmlns:a="http://schemas.openxmlformats.org/drawingml/2006/main">
            <a:pPr algn="l">
              <a:defRPr sz="1800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Слабая стратегия.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3EF68B-CDA6-4350-BA4B-7248AFD0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526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ABB2"/>
                </a:solidFill>
                <a:latin typeface="Arial"/>
                <a:ea typeface="Arial"/>
                <a:cs typeface="Arial"/>
              </a:rPr>
              <a:t>ТЯЖЁЛОЕ АГЕНТСТВО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3C5AD-769E-4481-89A2-3E9B2163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76500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Глубоко и дорого.</a:t>
            </a:r>
          </a:p>
          <a:p xmlns:a="http://schemas.openxmlformats.org/drawingml/2006/main">
            <a:pPr algn="r">
              <a:defRPr sz="1800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Долгий вход.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4BC2E-7B58-4AA0-9CFD-23195B05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19300"/>
            <a:ext cx="4648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5635D1-4B52-448D-A133-34989F86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66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5050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50506"/>
                </a:solidFill>
                <a:latin typeface="Arial"/>
                <a:ea typeface="Arial"/>
                <a:cs typeface="Arial"/>
              </a:rPr>
              <a:t>BYTE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7AEFEA-422C-4DBA-84E6-CD1A4ABE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6860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926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050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50506"/>
                </a:solidFill>
                <a:latin typeface="Arial"/>
                <a:ea typeface="Arial"/>
                <a:cs typeface="Arial"/>
              </a:rPr>
              <a:t>Сначала — один ключевой сценарий.</a:t>
            </a:r>
          </a:p>
          <a:p xmlns:a="http://schemas.openxmlformats.org/drawingml/2006/main">
            <a:pPr algn="l">
              <a:defRPr sz="1875" b="1">
                <a:solidFill>
                  <a:srgbClr val="05050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50506"/>
                </a:solidFill>
                <a:latin typeface="Arial"/>
                <a:ea typeface="Arial"/>
                <a:cs typeface="Arial"/>
              </a:rPr>
              <a:t>Затем — работающая измеримая версия.</a:t>
            </a:r>
          </a:p>
          <a:p xmlns:a="http://schemas.openxmlformats.org/drawingml/2006/main">
            <a:pPr algn="l">
              <a:defRPr sz="1875" b="1">
                <a:solidFill>
                  <a:srgbClr val="05050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50506"/>
                </a:solidFill>
                <a:latin typeface="Arial"/>
                <a:ea typeface="Arial"/>
                <a:cs typeface="Arial"/>
              </a:rPr>
              <a:t>После — сервис и автоматизация.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2EC62E-10F6-41C8-9C20-9B97728F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8953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«Не продаём сайт вслепую. Показываем, как будет работать ключевой сценарий бизнеса».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AA42B3-ECA6-4F3C-B7D4-44D80982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7ABB2"/>
                </a:solidFill>
                <a:latin typeface="Arial"/>
                <a:ea typeface="Arial"/>
                <a:cs typeface="Arial"/>
              </a:rPr>
              <a:t>Рекомендуемое позиционирование Byte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0DEB25-678F-4909-B12B-08A5FC5C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ABB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973300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0EF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1E6262-E8D4-4287-ABB7-245C46AA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A70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7078"/>
                </a:solidFill>
                <a:latin typeface="Arial"/>
                <a:ea typeface="Arial"/>
                <a:cs typeface="Arial"/>
              </a:rPr>
              <a:t>BYTE / СТРАТЕГИЯ РОСТА /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281D8-0EF7-44B3-9A80-09FF2F60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4"/>
                </a:solidFill>
                <a:latin typeface="Arial"/>
                <a:ea typeface="Arial"/>
                <a:cs typeface="Arial"/>
              </a:rPr>
              <a:t>Proof Page превращает холодное обещание в предмет разговора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969965-41B5-4EE8-A151-805D937E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5A9AEE-BE12-412E-A39E-045C2CFC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3EBE7-9ED0-49AD-A3C8-DADD20F7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4"/>
                </a:solidFill>
                <a:latin typeface="Arial"/>
                <a:ea typeface="Arial"/>
                <a:cs typeface="Arial"/>
              </a:rPr>
              <a:t>Найти потерю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57FC62-8DC2-47C4-9872-29358EAB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098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224D8A-F20D-46DA-AFF0-48C57DB3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90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943CF3-13B9-4998-AAA9-B46FF1A9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19375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4"/>
                </a:solidFill>
                <a:latin typeface="Arial"/>
                <a:ea typeface="Arial"/>
                <a:cs typeface="Arial"/>
              </a:rPr>
              <a:t>Показать 1 страницу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9C19E7-67A6-44CB-BD9B-AF12C69E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098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A51C76-1F7A-414D-88B4-F0C5C869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90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5B24FC-E7C8-472E-A9E2-00EC3EE2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19375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4"/>
                </a:solidFill>
                <a:latin typeface="Arial"/>
                <a:ea typeface="Arial"/>
                <a:cs typeface="Arial"/>
              </a:rPr>
              <a:t>Получить разговор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CC6DB8-3918-4038-B881-BD4B9938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098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389EA6-B6E0-4811-82AA-8286E5AE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106002-7074-419C-A309-1BA2BF07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19375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4"/>
                </a:solidFill>
                <a:latin typeface="Arial"/>
                <a:ea typeface="Arial"/>
                <a:cs typeface="Arial"/>
              </a:rPr>
              <a:t>Продать пилот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521581-F39E-4D78-81A0-77C67F62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828138-9F12-4EC4-B0DD-38037283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16D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16D6D"/>
                </a:solidFill>
                <a:latin typeface="Arial"/>
                <a:ea typeface="Arial"/>
                <a:cs typeface="Arial"/>
              </a:rPr>
              <a:t>НЕ БЕСПЛАТНЫЙ САЙТ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3FA624-73EC-4566-8A3B-E71BA325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4"/>
                </a:solidFill>
                <a:latin typeface="Arial"/>
                <a:ea typeface="Arial"/>
                <a:cs typeface="Arial"/>
              </a:rPr>
              <a:t>Одна страница · один сценарий · один CTA · watermark · 90–150 минут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059C95-381F-428D-9850-78F06376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E74B5"/>
                </a:solidFill>
                <a:latin typeface="Arial"/>
                <a:ea typeface="Arial"/>
                <a:cs typeface="Arial"/>
              </a:rPr>
              <a:t>Критерий успеха: клиент подтвердил проблему и согласился на следующий шаг.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9D08FA-F444-443E-85F4-6DC70F55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277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27780"/>
                </a:solidFill>
                <a:latin typeface="Arial"/>
                <a:ea typeface="Arial"/>
                <a:cs typeface="Arial"/>
              </a:rPr>
              <a:t>Методика Proof Page разработана для текущей стадии Byte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527330-F1B1-41D6-B75A-86101435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277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277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692136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5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EA6898-0A24-4D48-9CC4-C6F17E7B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ABB2"/>
                </a:solidFill>
                <a:latin typeface="Arial"/>
                <a:ea typeface="Arial"/>
                <a:cs typeface="Arial"/>
              </a:rPr>
              <a:t>BYTE / СТРАТЕГИЯ РОСТА /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73E7D9-53DC-4F56-B04E-D47550B9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64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Клиент должен увидеть продукт, а не слушать презентацию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BADD3-E451-40D5-8E3B-487D454A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D5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214b4cf55e4166"/>
          <a:srcRect xmlns:a="http://schemas.openxmlformats.org/drawingml/2006/main" l="5512" t="0" r="55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000250"/>
            <a:ext cx="4953000" cy="3105150"/>
          </a:xfrm>
          <a:prstGeom xmlns:a="http://schemas.openxmlformats.org/drawingml/2006/main" prst="roundRect">
            <a:avLst>
              <a:gd name="adj" fmla="val 3681"/>
            </a:avLst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2944ae8f504d23"/>
          <a:srcRect xmlns:a="http://schemas.openxmlformats.org/drawingml/2006/main" l="5114" t="0" r="51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400" y="2000250"/>
            <a:ext cx="4953000" cy="3105150"/>
          </a:xfrm>
          <a:prstGeom xmlns:a="http://schemas.openxmlformats.org/drawingml/2006/main" prst="roundRect">
            <a:avLst>
              <a:gd name="adj" fmla="val 368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91702-6C84-44CB-AB98-C742A12F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5C5B0C-CA04-4B39-A7D3-7B2434AC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ИСХОДНАЯ ТОЧКА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62F8D-6FFF-439C-8AC0-F258369E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52650"/>
            <a:ext cx="14763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4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5F3E31-490D-4063-8407-9FA5A470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28850"/>
            <a:ext cx="12477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5050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50506"/>
                </a:solidFill>
                <a:latin typeface="Arial"/>
                <a:ea typeface="Arial"/>
                <a:cs typeface="Arial"/>
              </a:rPr>
              <a:t>КОНЦЕПТ BYTE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B9C0CE-84E9-41A4-9512-35AA0D44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7ABB2"/>
                </a:solidFill>
                <a:latin typeface="Arial"/>
                <a:ea typeface="Arial"/>
                <a:cs typeface="Arial"/>
              </a:rPr>
              <a:t>Внутренний демонстрационный актив: не заявляем результат клиента — показываем способность быстро материализовать гипотезу.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EEBF00-C95E-493D-92D3-3801C4E3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7ABB2"/>
                </a:solidFill>
                <a:latin typeface="Arial"/>
                <a:ea typeface="Arial"/>
                <a:cs typeface="Arial"/>
              </a:rPr>
              <a:t>Материалы проекта SLM в рабочем репозитории Byte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A57FD8-3D23-4FFC-B72D-0D8A0A56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ABB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280695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0EF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B2E1EF-44B1-4B53-9DFB-E4BBC7A9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A70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7078"/>
                </a:solidFill>
                <a:latin typeface="Arial"/>
                <a:ea typeface="Arial"/>
                <a:cs typeface="Arial"/>
              </a:rPr>
              <a:t>BYTE / СТРАТЕГИЯ РОСТА /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255A7-6290-4B14-861D-5387C663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4"/>
                </a:solidFill>
                <a:latin typeface="Arial"/>
                <a:ea typeface="Arial"/>
                <a:cs typeface="Arial"/>
              </a:rPr>
              <a:t>Первые 30 дней — только два сегмента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6DCFA3-BE5D-40C4-8C89-17D3EF37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8017E-DD53-4A25-A1A5-8F2C8C83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 / МЕБЕЛЬ И ИНТЕРЬЕР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2EBEF-CB6E-45A6-AECC-55E44122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4"/>
                </a:solidFill>
                <a:latin typeface="Arial"/>
                <a:ea typeface="Arial"/>
                <a:cs typeface="Arial"/>
              </a:rPr>
              <a:t>Высокий чек. Визуальный продукт. Часто слабый каталог и заявка.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561A5-6F37-4795-9C52-28A0277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4"/>
                </a:solidFill>
                <a:latin typeface="Arial"/>
                <a:ea typeface="Arial"/>
                <a:cs typeface="Arial"/>
              </a:rPr>
              <a:t>Показываем: главная → каталог/калькулятор → заявка на замер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9850F8-F9CD-4180-A6B3-4A1065E3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336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 / ОБРАЗОВАНИЕ И СТУДИИ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B3024-9C68-4590-89F8-7A96B077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14600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4"/>
                </a:solidFill>
                <a:latin typeface="Arial"/>
                <a:ea typeface="Arial"/>
                <a:cs typeface="Arial"/>
              </a:rPr>
              <a:t>Регулярный набор. Понятные даты. Владелец доступен напрямую.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C06BF7-A9BA-4FCE-BC68-E64B5E37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8615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4"/>
                </a:solidFill>
                <a:latin typeface="Arial"/>
                <a:ea typeface="Arial"/>
                <a:cs typeface="Arial"/>
              </a:rPr>
              <a:t>Показываем: расписание → пробное занятие → мессенджер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E506BD-AD9E-4BD3-A10C-22A8D3CE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21F542-9CE2-41D6-A718-2032F73E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4"/>
                </a:solidFill>
                <a:latin typeface="Arial"/>
                <a:ea typeface="Arial"/>
                <a:cs typeface="Arial"/>
              </a:rPr>
              <a:t>Берём только компании с 8+ баллами: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A40F6C-C78A-4E1F-9001-2AA69E21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74B5"/>
                </a:solidFill>
                <a:latin typeface="Arial"/>
                <a:ea typeface="Arial"/>
                <a:cs typeface="Arial"/>
              </a:rPr>
              <a:t>видимая потеря · прямой ЛПР · экономика · сигнал момента · fit Byte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81E3A6-4A11-4167-A9E4-080C19F8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277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27780"/>
                </a:solidFill>
                <a:latin typeface="Arial"/>
                <a:ea typeface="Arial"/>
                <a:cs typeface="Arial"/>
              </a:rPr>
              <a:t>ICP-модель и scoring — в подробном документе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A3AD2A-13CA-418C-97A4-2A41EB12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277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2778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179358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5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31C4FB-C66E-4295-A799-BD5DB597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ABB2"/>
                </a:solidFill>
                <a:latin typeface="Arial"/>
                <a:ea typeface="Arial"/>
                <a:cs typeface="Arial"/>
              </a:rPr>
              <a:t>BYTE / СТРАТЕГИЯ РОСТА /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A23982-D50B-4B2A-AA8E-3A188AB9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Воронка управляется действиями, а не надеждой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B4D5A-9A0D-4765-A1F8-CF001A75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C7111C-989C-4987-90D2-988E53F8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113EA8-0474-432D-BE81-1F047B4A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7ABB2"/>
                </a:solidFill>
                <a:latin typeface="Arial"/>
                <a:ea typeface="Arial"/>
                <a:cs typeface="Arial"/>
              </a:rPr>
              <a:t>компаний</a:t>
            </a:r>
          </a:p>
          <a:p xmlns:a="http://schemas.openxmlformats.org/drawingml/2006/main">
            <a:pPr algn="ctr">
              <a:defRPr sz="1425" b="0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7ABB2"/>
                </a:solidFill>
                <a:latin typeface="Arial"/>
                <a:ea typeface="Arial"/>
                <a:cs typeface="Arial"/>
              </a:rPr>
              <a:t>просмотрено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0E13C-D08B-42A2-98E0-3874C59B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4098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4D5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4D5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88D1F0-A9B6-4497-90D6-E0688032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955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329D6E-4D05-4080-A7B0-D2A24A5D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765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7ABB2"/>
                </a:solidFill>
                <a:latin typeface="Arial"/>
                <a:ea typeface="Arial"/>
                <a:cs typeface="Arial"/>
              </a:rPr>
              <a:t>осмысленных</a:t>
            </a:r>
          </a:p>
          <a:p xmlns:a="http://schemas.openxmlformats.org/drawingml/2006/main">
            <a:pPr algn="ctr">
              <a:defRPr sz="1425" b="0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7ABB2"/>
                </a:solidFill>
                <a:latin typeface="Arial"/>
                <a:ea typeface="Arial"/>
                <a:cs typeface="Arial"/>
              </a:rPr>
              <a:t>контактов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362D30-13C2-406A-B77B-B1142858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4098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4D5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4D5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2F8622-5FBD-4F22-BADA-ADC0874A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0955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84D5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84D5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5BAFCC-7243-4AB9-B74D-91F7605D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765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7ABB2"/>
                </a:solidFill>
                <a:latin typeface="Arial"/>
                <a:ea typeface="Arial"/>
                <a:cs typeface="Arial"/>
              </a:rPr>
              <a:t>Proof Page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52E864-7FFA-4BC6-B27E-A53CE3CB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4098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4D5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4D5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3F9E20-F11B-424D-A2E4-7C6C74DF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955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39D84F-C97D-464F-8155-9A0C8BCF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765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7ABB2"/>
                </a:solidFill>
                <a:latin typeface="Arial"/>
                <a:ea typeface="Arial"/>
                <a:cs typeface="Arial"/>
              </a:rPr>
              <a:t>диагностики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661BE1-F54C-4E6A-AE88-61E54B5B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4098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4D5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4D5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28A3FB-3867-4D3C-A312-2E2546B6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955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C14934-0E99-4747-B832-B1222B2B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765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7ABB2"/>
                </a:solidFill>
                <a:latin typeface="Arial"/>
                <a:ea typeface="Arial"/>
                <a:cs typeface="Arial"/>
              </a:rPr>
              <a:t>предложение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289230-B9EC-4C32-BFCA-8AE4208B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571E1C-F15E-4464-8524-83C110E6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4D5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4D5FF"/>
                </a:solidFill>
                <a:latin typeface="Arial"/>
                <a:ea typeface="Arial"/>
                <a:cs typeface="Arial"/>
              </a:rPr>
              <a:t>ЦЕЛЬ ПОСЛЕ РАЗГОНА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80CCAA-D867-4591-BF20-95738135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1–2 сделки в месяц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42E8C4-C0D6-4581-8D9B-07ACAE92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7ABB2"/>
                </a:solidFill>
                <a:latin typeface="Arial"/>
                <a:ea typeface="Arial"/>
                <a:cs typeface="Arial"/>
              </a:rPr>
              <a:t>Это рабочая гипотеза. Через 4 недели пересчитать по фактам.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0AF925-CE48-42F9-9637-6DCF5355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7ABB2"/>
                </a:solidFill>
                <a:latin typeface="Arial"/>
                <a:ea typeface="Arial"/>
                <a:cs typeface="Arial"/>
              </a:rPr>
              <a:t>Внутренние операционные ориентиры; не прогноз и не гарантия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9F41FC-958E-4C32-8E5F-B7B08F3C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ABB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702777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0EF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2FA865-43A6-44CB-8DFC-42F08FA6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A70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7078"/>
                </a:solidFill>
                <a:latin typeface="Arial"/>
                <a:ea typeface="Arial"/>
                <a:cs typeface="Arial"/>
              </a:rPr>
              <a:t>BYTE / СТРАТЕГИЯ РОСТА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69956-F384-4221-913C-8B8B9439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4"/>
                </a:solidFill>
                <a:latin typeface="Arial"/>
                <a:ea typeface="Arial"/>
                <a:cs typeface="Arial"/>
              </a:rPr>
              <a:t>Один Proof Page должен укладываться в 150 минут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799C8D-AD12-477B-B717-57F4D6D7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857D55-2D95-42BA-B5A8-6D23C03A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14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B2C20-66D8-4831-9069-F27C5404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EBBAA0-9033-452E-B03A-CBF20D9C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ABB2"/>
                </a:solidFill>
                <a:latin typeface="Arial"/>
                <a:ea typeface="Arial"/>
                <a:cs typeface="Arial"/>
              </a:rPr>
              <a:t>исследование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172982-70BA-4819-AC32-4A6B049E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38125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3C82D-E4E1-4602-AE79-9E3B8C43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476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22A40C-B834-402B-8C53-6E1D7871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8003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ABB2"/>
                </a:solidFill>
                <a:latin typeface="Arial"/>
                <a:ea typeface="Arial"/>
                <a:cs typeface="Arial"/>
              </a:rPr>
              <a:t>оффер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21FF5B-7D30-4B51-8C08-205364A2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81250"/>
            <a:ext cx="342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88E2FD-1967-4CB4-B80A-5D2012AC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765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5050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50506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023C30-CF6D-4AB5-A0CE-722D2F78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00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5050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50506"/>
                </a:solidFill>
                <a:latin typeface="Arial"/>
                <a:ea typeface="Arial"/>
                <a:cs typeface="Arial"/>
              </a:rPr>
              <a:t>сборка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DF080A-9ADD-47CA-A926-08A0B0F6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81250"/>
            <a:ext cx="1333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5E844F-70C2-4CEC-91B5-6F67BF9B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765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DD74BE-E4F1-43AB-B595-32983265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003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ABB2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517C95-F0FB-4E44-8733-B16169EF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81250"/>
            <a:ext cx="1333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13D26E-AD87-4FD0-A9EA-44C9E830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765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B40A12-C932-4096-9E2A-7E850575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003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ABB2"/>
                </a:solidFill>
                <a:latin typeface="Arial"/>
                <a:ea typeface="Arial"/>
                <a:cs typeface="Arial"/>
              </a:rPr>
              <a:t>видео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C42A7F-FFAA-4D39-A76B-43A28F64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81250"/>
            <a:ext cx="114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934F64-B32C-4088-A64D-47E135CC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76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3EE445-EC2B-4150-9099-1C15795C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003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ABB2"/>
                </a:solidFill>
                <a:latin typeface="Arial"/>
                <a:ea typeface="Arial"/>
                <a:cs typeface="Arial"/>
              </a:rPr>
              <a:t>контакт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A9FA49-5DFF-48FE-86A0-A18F2C05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ЛИМИТЫ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DEC12C-28D2-476B-B7D6-59CD6AA4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0CC85D-B1C6-40D8-A68F-D13B8A48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4"/>
                </a:solidFill>
                <a:latin typeface="Arial"/>
                <a:ea typeface="Arial"/>
                <a:cs typeface="Arial"/>
              </a:rPr>
              <a:t>Одна страница, один CTA, один раунд демонстрации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91D246-5A0B-4AAC-81AD-C66E3FEB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6D79D0-434A-468D-96A4-F00C22B4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4"/>
                </a:solidFill>
                <a:latin typeface="Arial"/>
                <a:ea typeface="Arial"/>
                <a:cs typeface="Arial"/>
              </a:rPr>
              <a:t>Закрытая ссылка, watermark, без исходников до договора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1A6B74-2279-40C7-B7AC-7ACB43C2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624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BAA68D-1B8F-4E6C-A009-C535CEB6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957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4"/>
                </a:solidFill>
                <a:latin typeface="Arial"/>
                <a:ea typeface="Arial"/>
                <a:cs typeface="Arial"/>
              </a:rPr>
              <a:t>Сразу указан платный следующий шаг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D5F7A9-B763-4E43-B784-0DD38056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52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04CACC-2DEC-4D8A-8AB6-00B4E094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863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4"/>
                </a:solidFill>
                <a:latin typeface="Arial"/>
                <a:ea typeface="Arial"/>
                <a:cs typeface="Arial"/>
              </a:rPr>
              <a:t>Полный концепт — только верхним 10% списка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D0FE78-E5E7-44CC-86D2-7F0DFD92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277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27780"/>
                </a:solidFill>
                <a:latin typeface="Arial"/>
                <a:ea typeface="Arial"/>
                <a:cs typeface="Arial"/>
              </a:rPr>
              <a:t>150 минут — верхний лимит для A+ аккаунта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49B4B2-A52E-4718-9933-B72B55D0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277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2778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56144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505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906C3C-326B-42E6-9C83-653394CB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ABB2"/>
                </a:solidFill>
                <a:latin typeface="Arial"/>
                <a:ea typeface="Arial"/>
                <a:cs typeface="Arial"/>
              </a:rPr>
              <a:t>BYTE / СТРАТЕГИЯ РОСТА /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05191D-FAA3-4CFB-A72A-041672D4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Продуктовая лестница: войти легко, расти логично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8949A-3F86-438D-989C-06649556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F2626-20F8-43BC-9915-938434D7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4D5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4D5FF"/>
                </a:solidFill>
                <a:latin typeface="Arial"/>
                <a:ea typeface="Arial"/>
                <a:cs typeface="Arial"/>
              </a:rPr>
              <a:t>49–75 тыс. 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D25C7-C702-454D-95A0-77BAEF85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383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Пилот «Запуск»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C8416-78A8-4F21-9F3E-44CA1312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3835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7ABB2"/>
                </a:solidFill>
                <a:latin typeface="Arial"/>
                <a:ea typeface="Arial"/>
                <a:cs typeface="Arial"/>
              </a:rPr>
              <a:t>1 страница · форма · Метрика · публикация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72B2D-A9DB-42C4-9A4F-BF465C6F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ADE055-9FFD-489E-99E8-CC09ED3A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110–220 тыс. 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CE5CA6-E2CC-46B9-AB27-31D2729E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146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Сайт роста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35B62D-AF38-4E3C-A84D-9BB96389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1465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7ABB2"/>
                </a:solidFill>
                <a:latin typeface="Arial"/>
                <a:ea typeface="Arial"/>
                <a:cs typeface="Arial"/>
              </a:rPr>
              <a:t>5–10 страниц · контент · интеграция заявок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ECF778-1E14-4F4F-9959-D077B345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A10A4E-8E6B-4FE9-8BA4-E1A959E5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от 250 тыс. 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1D529F-05B4-442A-90F5-6E79EA0D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909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Цифровой процесс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1FB4AC-450B-4D8A-932E-F1735974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9095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7ABB2"/>
                </a:solidFill>
                <a:latin typeface="Arial"/>
                <a:ea typeface="Arial"/>
                <a:cs typeface="Arial"/>
              </a:rPr>
              <a:t>кабинет · панель · бот · автоматизация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700E63-800C-4512-87DF-188E0F27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B9A577-EE0E-4D2F-A128-5138642D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12–35 тыс. ₽/мес.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B489AC-50DF-43C5-A2A0-5C0C967A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6672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Byte Care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E33776-A3F3-4A2C-AC9E-5CE46627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6725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7ABB2"/>
                </a:solidFill>
                <a:latin typeface="Arial"/>
                <a:ea typeface="Arial"/>
                <a:cs typeface="Arial"/>
              </a:rPr>
              <a:t>поддержка · аналитика · улучшения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216075-C1D0-40B0-9796-97471DBD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2BAF27-4214-4E86-8532-48AA6A1F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4D5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4D5FF"/>
                </a:solidFill>
                <a:latin typeface="Arial"/>
                <a:ea typeface="Arial"/>
                <a:cs typeface="Arial"/>
              </a:rPr>
              <a:t>Не «дешёвый лендинг». Ограниченный риск, ясный scope, полноценная работа.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962263-47FE-4E2D-9797-46349758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7ABB2"/>
                </a:solidFill>
                <a:latin typeface="Arial"/>
                <a:ea typeface="Arial"/>
                <a:cs typeface="Arial"/>
              </a:rPr>
              <a:t>Рекомендуемая ценовая архитектура; финальная оценка зависит от scope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953058-C41D-4304-BDD4-545EF188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ABB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917694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0EF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E50A01-0847-45A5-A1C3-65E7574F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A70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7078"/>
                </a:solidFill>
                <a:latin typeface="Arial"/>
                <a:ea typeface="Arial"/>
                <a:cs typeface="Arial"/>
              </a:rPr>
              <a:t>BYTE / СТРАТЕГИЯ РОСТА /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03AB0-E912-4490-8A77-EFB8D77C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4"/>
                </a:solidFill>
                <a:latin typeface="Arial"/>
                <a:ea typeface="Arial"/>
                <a:cs typeface="Arial"/>
              </a:rPr>
              <a:t>Без бюджета побеждает дисциплина, а не охват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AD635-8C44-4AA9-855B-92E449BD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31174-4B32-4478-A626-F6D05014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9C1B9-FFB0-4405-9A01-D08C93BA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431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4"/>
                </a:solidFill>
                <a:latin typeface="Arial"/>
                <a:ea typeface="Arial"/>
                <a:cs typeface="Arial"/>
              </a:rPr>
              <a:t>Founder-led outreach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27A638-D44F-4A72-8C13-D21B55C5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FE7B95-3A14-4884-8336-E455D3C6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194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4"/>
                </a:solidFill>
                <a:latin typeface="Arial"/>
                <a:ea typeface="Arial"/>
                <a:cs typeface="Arial"/>
              </a:rPr>
              <a:t>Партнёры и рекомендации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E350E6-D769-47B7-89F1-84290B83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11CC8D-8148-4025-B449-17BCD311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957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4"/>
                </a:solidFill>
                <a:latin typeface="Arial"/>
                <a:ea typeface="Arial"/>
                <a:cs typeface="Arial"/>
              </a:rPr>
              <a:t>Кейсы и разборы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E584DD-07AA-4AFE-B5CF-C81CA011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19300"/>
            <a:ext cx="83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475" b="1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11114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3E8523-59CB-48CF-BACA-E0F60534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764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4"/>
                </a:solidFill>
                <a:latin typeface="Arial"/>
                <a:ea typeface="Arial"/>
                <a:cs typeface="Arial"/>
              </a:rPr>
              <a:t>компаний / неделя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AB4941-9D27-4E6D-836A-140DE10E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62250"/>
            <a:ext cx="83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475" b="1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1111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C3DD8F-D343-4105-8878-5FD34375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194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4"/>
                </a:solidFill>
                <a:latin typeface="Arial"/>
                <a:ea typeface="Arial"/>
                <a:cs typeface="Arial"/>
              </a:rPr>
              <a:t>контактов / неделя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40BD36-DB33-4C92-8EB9-6047FDFD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05200"/>
            <a:ext cx="83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475" b="1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1111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490AE9-6768-4ACE-AC50-E67361E3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623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4"/>
                </a:solidFill>
                <a:latin typeface="Arial"/>
                <a:ea typeface="Arial"/>
                <a:cs typeface="Arial"/>
              </a:rPr>
              <a:t>Proof Page / неделя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BB873E-3989-436E-A67B-0A510B7C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48150"/>
            <a:ext cx="83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475" b="1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1111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1B81E9-30C1-4E99-B04A-56A8D467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053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4"/>
                </a:solidFill>
                <a:latin typeface="Arial"/>
                <a:ea typeface="Arial"/>
                <a:cs typeface="Arial"/>
              </a:rPr>
              <a:t>партнёрских разговора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EAE17D-1441-4A61-8FBC-3858B02F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AF66FA-F78B-419C-9BA0-51539678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Контент — побочный продукт реальной работы. Реклама — только после первого доказанного оффера.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134752-F9BA-422F-A30E-5C4B9AA4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277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27780"/>
                </a:solidFill>
                <a:latin typeface="Arial"/>
                <a:ea typeface="Arial"/>
                <a:cs typeface="Arial"/>
              </a:rPr>
              <a:t>Приоритет каналов: 0 ₽ + время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5B90C2-9394-4FB0-9D72-070F0D49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277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2778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884158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505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CC0C9D-3F9A-4066-B690-66D57673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ABB2"/>
                </a:solidFill>
                <a:latin typeface="Arial"/>
                <a:ea typeface="Arial"/>
                <a:cs typeface="Arial"/>
              </a:rPr>
              <a:t>BYTE / СТРАТЕГИЯ РОСТА /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88632-F4FA-440A-BFFA-0AD2B47D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5 000 ₽ — это эксперимент, а не медиа-бюджет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06FE2-FEB4-4FF4-80DB-83FB2792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F2125-D654-4BD4-ADC8-77147E8E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84D5FF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84D5FF"/>
                </a:solidFill>
                <a:latin typeface="Arial"/>
                <a:ea typeface="Arial"/>
                <a:cs typeface="Arial"/>
              </a:rPr>
              <a:t>2 000 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DC9F6-4DDA-408D-AA88-6D1BB76F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6F5F0"/>
                </a:solidFill>
                <a:latin typeface="Arial"/>
                <a:ea typeface="Arial"/>
                <a:cs typeface="Arial"/>
              </a:rPr>
              <a:t>локальная бизнес-встреча с владельцами из ICP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4BFF32-EB2F-4B84-8BAB-F7F8A86C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1455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1 000 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4958AE-1A96-4A4B-A387-CC889231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765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6F5F0"/>
                </a:solidFill>
                <a:latin typeface="Arial"/>
                <a:ea typeface="Arial"/>
                <a:cs typeface="Arial"/>
              </a:rPr>
              <a:t>20 качественных карточек с QR на кейс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BFE213-93F3-41FA-AC14-99CF825C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1455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84D5FF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84D5FF"/>
                </a:solidFill>
                <a:latin typeface="Arial"/>
                <a:ea typeface="Arial"/>
                <a:cs typeface="Arial"/>
              </a:rPr>
              <a:t>2 000 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282E97-8041-4F54-B82F-A1F5F70D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765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6F5F0"/>
                </a:solidFill>
                <a:latin typeface="Arial"/>
                <a:ea typeface="Arial"/>
                <a:cs typeface="Arial"/>
              </a:rPr>
              <a:t>микротест VK Ads — только после появления кейса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9BB6EE-081E-4BE7-B7AB-B7B1D231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0286EB-12C4-477D-B062-1F01C56A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16D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16D6D"/>
                </a:solidFill>
                <a:latin typeface="Arial"/>
                <a:ea typeface="Arial"/>
                <a:cs typeface="Arial"/>
              </a:rPr>
              <a:t>СТОП-ПРАВИЛО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89159F-7E8E-42B9-B22A-18CEB276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Не тратить бюджет на широкий запрос «создание сайтов».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B58EAD-21B3-45DE-9963-FA78009E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7ABB2"/>
                </a:solidFill>
                <a:latin typeface="Arial"/>
                <a:ea typeface="Arial"/>
                <a:cs typeface="Arial"/>
              </a:rPr>
              <a:t>Если ручной оффер не дал разговоров, реклама только умножит слабое сообщение.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D7ADC3-0D4C-44E7-972A-21E5A0C7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7ABB2"/>
                </a:solidFill>
                <a:latin typeface="Arial"/>
                <a:ea typeface="Arial"/>
                <a:cs typeface="Arial"/>
              </a:rPr>
              <a:t>Предельный бюджет по запросу пользователя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9B96E6-439B-4474-A2F6-9BAB1075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ABB2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851767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0EF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DB3657-68BA-4A49-B8E7-57EEB542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A70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7078"/>
                </a:solidFill>
                <a:latin typeface="Arial"/>
                <a:ea typeface="Arial"/>
                <a:cs typeface="Arial"/>
              </a:rPr>
              <a:t>BYTE / СТРАТЕГИЯ РОСТА /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7ABC16-BB2C-465A-83B4-7A8A62E2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557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4"/>
                </a:solidFill>
                <a:latin typeface="Arial"/>
                <a:ea typeface="Arial"/>
                <a:cs typeface="Arial"/>
              </a:rPr>
              <a:t>Первый контакт просит разрешение — и ничего не продаёт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D2E095-C1B9-457A-A7FC-611B74C1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0CFEC-2411-4404-B5E1-600A320E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35 СЕКУНД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60A1EB-4410-4B89-A12B-E8CD5AF8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5727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11114"/>
                </a:solidFill>
                <a:latin typeface="Arial"/>
                <a:ea typeface="Arial"/>
                <a:cs typeface="Arial"/>
              </a:rPr>
              <a:t>«Я посмотрел, как у вас сейчас работает [запись / каталог / заявка], и заметил одну конкретную потерю: [наблюдение]. Можно я соберу один экран с вариантом решения и отправлю вам? Если не будет полезно — остановимся».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2C998-9725-470B-B97F-C68832B9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D60078-F8CD-4836-8A61-F5CF088B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16D6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16D6D"/>
                </a:solidFill>
                <a:latin typeface="Arial"/>
                <a:ea typeface="Arial"/>
                <a:cs typeface="Arial"/>
              </a:rPr>
              <a:t>Не список услуг. Не критика сайта. Не гарантия заявок.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655D9D-02CB-4146-A3EE-90F83B3A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E74B5"/>
                </a:solidFill>
                <a:latin typeface="Arial"/>
                <a:ea typeface="Arial"/>
                <a:cs typeface="Arial"/>
              </a:rPr>
              <a:t>Один факт → одно разрешение → один следующий шаг.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DD293-6629-40B3-9380-13EA789E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277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27780"/>
                </a:solidFill>
                <a:latin typeface="Arial"/>
                <a:ea typeface="Arial"/>
                <a:cs typeface="Arial"/>
              </a:rPr>
              <a:t>Важно: массовая реклама по сетям электросвязи без согласия создаёт риск по ст. 18 закона «О рекламе»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C507A0-F022-471D-817F-FE98258D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277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2778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337832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505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4BBA06-7F82-46B0-B435-9527A415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ABB2"/>
                </a:solidFill>
                <a:latin typeface="Arial"/>
                <a:ea typeface="Arial"/>
                <a:cs typeface="Arial"/>
              </a:rPr>
              <a:t>BYTE / СТРАТЕГИЯ РОСТА / 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16AB0-B91F-4DE7-9DB6-3160E5C1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90 дней: сначала доказать, потом масштабировать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03C2DB-C831-4D2A-9F43-A3A57D16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C1750-8D6E-4071-8D7B-55DD5908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ABB2"/>
                </a:solidFill>
                <a:latin typeface="Arial"/>
                <a:ea typeface="Arial"/>
                <a:cs typeface="Arial"/>
              </a:rPr>
              <a:t>НЕДЕЛИ 1–2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8C220-7C9B-4689-A2D0-A197BA4C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4D5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4D5FF"/>
                </a:solidFill>
                <a:latin typeface="Arial"/>
                <a:ea typeface="Arial"/>
                <a:cs typeface="Arial"/>
              </a:rPr>
              <a:t>СОБРАТЬ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9C07C-A7D9-4ED3-B2C5-4A54FBDF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362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7ABB2"/>
                </a:solidFill>
                <a:latin typeface="Arial"/>
                <a:ea typeface="Arial"/>
                <a:cs typeface="Arial"/>
              </a:rPr>
              <a:t>ICP · шаблон · CRM · пилот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697502-9474-43B7-A151-6CF2A209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133600"/>
            <a:ext cx="95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AAEBD1-4E5D-4E56-B688-6AAA91C1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336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ABB2"/>
                </a:solidFill>
                <a:latin typeface="Arial"/>
                <a:ea typeface="Arial"/>
                <a:cs typeface="Arial"/>
              </a:rPr>
              <a:t>НЕДЕЛИ 3–6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C778DB-1792-4FB8-A0EB-B5926FE4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765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ДОКАЗАТЬ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8ACD17-0C54-4E1D-AF05-8F6BC131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48000"/>
            <a:ext cx="2362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7ABB2"/>
                </a:solidFill>
                <a:latin typeface="Arial"/>
                <a:ea typeface="Arial"/>
                <a:cs typeface="Arial"/>
              </a:rPr>
              <a:t>12 Proof Page · 8 разговоров · 1 сделка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9530CA-FD17-4E63-BDB0-991667FE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133600"/>
            <a:ext cx="95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C66AAF-8A3C-496D-BDF4-7AE362D5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ABB2"/>
                </a:solidFill>
                <a:latin typeface="Arial"/>
                <a:ea typeface="Arial"/>
                <a:cs typeface="Arial"/>
              </a:rPr>
              <a:t>НЕДЕЛИ 7–10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D785A4-0CFC-4909-9E52-840335CD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УПАКОВАТЬ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5DDE06-7339-48E1-96C9-1CB70EDD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2362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7ABB2"/>
                </a:solidFill>
                <a:latin typeface="Arial"/>
                <a:ea typeface="Arial"/>
                <a:cs typeface="Arial"/>
              </a:rPr>
              <a:t>кейс · отзыв · партнёры · апселл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957F9E-3ED0-4FA1-B313-6B558D09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133600"/>
            <a:ext cx="95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F00135-5D9F-437E-8902-C1AB2925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336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ABB2"/>
                </a:solidFill>
                <a:latin typeface="Arial"/>
                <a:ea typeface="Arial"/>
                <a:cs typeface="Arial"/>
              </a:rPr>
              <a:t>НЕДЕЛИ 11–13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B8FD94-155B-48EB-B9D9-CC1A7B09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765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МАСШТАБ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7F9494-BC1B-4E04-AFE1-B3C2B20A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48000"/>
            <a:ext cx="2362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7ABB2"/>
                </a:solidFill>
                <a:latin typeface="Arial"/>
                <a:ea typeface="Arial"/>
                <a:cs typeface="Arial"/>
              </a:rPr>
              <a:t>лучший сегмент · микрореклама · квартал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9BBEAE-A16E-4C31-A503-F365F63E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A86429-C199-46FC-A1AC-45AF73C7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4D5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4D5FF"/>
                </a:solidFill>
                <a:latin typeface="Arial"/>
                <a:ea typeface="Arial"/>
                <a:cs typeface="Arial"/>
              </a:rPr>
              <a:t>РЕЗУЛЬТАТ К 90-МУ ДНЮ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0045D6-75AE-4FE6-B298-F051FF4E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3 платных запуска · 2 честных кейса · 1 повторяемый канал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56EE80-0653-4BF9-8E9C-18E0A06D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7ABB2"/>
                </a:solidFill>
                <a:latin typeface="Arial"/>
                <a:ea typeface="Arial"/>
                <a:cs typeface="Arial"/>
              </a:rPr>
              <a:t>План требует еженедельной корректировки по фактической воронке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4341A5-5634-45F9-9EAA-48B8E31E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ABB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6592868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0EF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F894CB-59FB-40ED-92A5-3A347C8E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A70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7078"/>
                </a:solidFill>
                <a:latin typeface="Arial"/>
                <a:ea typeface="Arial"/>
                <a:cs typeface="Arial"/>
              </a:rPr>
              <a:t>BYTE / СТРАТЕГИЯ РОСТА / 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72CC3-4733-40C0-B14B-EE10E59F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359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4"/>
                </a:solidFill>
                <a:latin typeface="Arial"/>
                <a:ea typeface="Arial"/>
                <a:cs typeface="Arial"/>
              </a:rPr>
              <a:t>Команда поверит в стратегию, когда увидит защищённое время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68106D-17A0-4154-9CEC-4E5A7798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F10E9-7E9F-4095-B3FA-DEE1F0C4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ОСНОВАТЕЛЬ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58EEE-9125-4853-A2A8-3345D1BB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4"/>
                </a:solidFill>
                <a:latin typeface="Arial"/>
                <a:ea typeface="Arial"/>
                <a:cs typeface="Arial"/>
              </a:rPr>
              <a:t>2 × 90 минут</a:t>
            </a:r>
          </a:p>
          <a:p xmlns:a="http://schemas.openxmlformats.org/drawingml/2006/main">
            <a:pPr algn="l">
              <a:defRPr sz="2850" b="1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4"/>
                </a:solidFill>
                <a:latin typeface="Arial"/>
                <a:ea typeface="Arial"/>
                <a:cs typeface="Arial"/>
              </a:rPr>
              <a:t>каждую неделю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083A9-CDDB-4D9F-8A52-D6F07ED5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333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4"/>
                </a:solidFill>
                <a:latin typeface="Arial"/>
                <a:ea typeface="Arial"/>
                <a:cs typeface="Arial"/>
              </a:rPr>
              <a:t>Отбор аккаунтов</a:t>
            </a:r>
          </a:p>
          <a:p xmlns:a="http://schemas.openxmlformats.org/drawingml/2006/main">
            <a:pPr algn="l">
              <a:defRPr sz="1725" b="0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4"/>
                </a:solidFill>
                <a:latin typeface="Arial"/>
                <a:ea typeface="Arial"/>
                <a:cs typeface="Arial"/>
              </a:rPr>
              <a:t>Коммерческие разговоры</a:t>
            </a:r>
          </a:p>
          <a:p xmlns:a="http://schemas.openxmlformats.org/drawingml/2006/main">
            <a:pPr algn="l">
              <a:defRPr sz="1725" b="0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4"/>
                </a:solidFill>
                <a:latin typeface="Arial"/>
                <a:ea typeface="Arial"/>
                <a:cs typeface="Arial"/>
              </a:rPr>
              <a:t>Закрытие сделки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3BFCA-DC18-4A12-88A8-D4B56AF8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33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КОМАНДА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9B36D0-B3C1-429A-8A7D-3E813024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955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4"/>
                </a:solidFill>
                <a:latin typeface="Arial"/>
                <a:ea typeface="Arial"/>
                <a:cs typeface="Arial"/>
              </a:rPr>
              <a:t>3 Proof Page</a:t>
            </a:r>
          </a:p>
          <a:p xmlns:a="http://schemas.openxmlformats.org/drawingml/2006/main">
            <a:pPr algn="l">
              <a:defRPr sz="2850" b="1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4"/>
                </a:solidFill>
                <a:latin typeface="Arial"/>
                <a:ea typeface="Arial"/>
                <a:cs typeface="Arial"/>
              </a:rPr>
              <a:t>по лимиту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F6376A-95FB-4A06-AA3C-1BB00EA0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19500"/>
            <a:ext cx="4476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4"/>
                </a:solidFill>
                <a:latin typeface="Arial"/>
                <a:ea typeface="Arial"/>
                <a:cs typeface="Arial"/>
              </a:rPr>
              <a:t>Стратег — сценарии</a:t>
            </a:r>
          </a:p>
          <a:p xmlns:a="http://schemas.openxmlformats.org/drawingml/2006/main">
            <a:pPr algn="l">
              <a:defRPr sz="1725" b="0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4"/>
                </a:solidFill>
                <a:latin typeface="Arial"/>
                <a:ea typeface="Arial"/>
                <a:cs typeface="Arial"/>
              </a:rPr>
              <a:t>Дизайн/frontend — сборка</a:t>
            </a:r>
          </a:p>
          <a:p xmlns:a="http://schemas.openxmlformats.org/drawingml/2006/main">
            <a:pPr algn="l">
              <a:defRPr sz="1725" b="0">
                <a:solidFill>
                  <a:srgbClr val="11111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4"/>
                </a:solidFill>
                <a:latin typeface="Arial"/>
                <a:ea typeface="Arial"/>
                <a:cs typeface="Arial"/>
              </a:rPr>
              <a:t>Tech — оценка и повторное использование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6D330F-BE97-459F-8EA7-C277A0CE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66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532891-97C8-437A-B895-5BA66D5A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Если основатель не защищает канал временем, команда не сможет в него поверить.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93B5D1-A8B1-4347-BE1E-AD3316C3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277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27780"/>
                </a:solidFill>
                <a:latin typeface="Arial"/>
                <a:ea typeface="Arial"/>
                <a:cs typeface="Arial"/>
              </a:rPr>
              <a:t>Еженедельные ритуалы: понедельник 35 минут, пятница 30 минут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55AAE0-FD5D-40CD-9D05-473B532D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277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2778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6877800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505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5DA799-6C94-4FC6-B419-C3123E9D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ABB2"/>
                </a:solidFill>
                <a:latin typeface="Arial"/>
                <a:ea typeface="Arial"/>
                <a:cs typeface="Arial"/>
              </a:rPr>
              <a:t>BYTE / СТРАТЕГИЯ РОСТА / 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F12AF7-0226-4F6D-8568-E0C815DF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Что остановит стратегию — и как этого не допустить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43083-BA2B-4186-BB56-ACEFF357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DE78C-990D-4F0F-A7A8-822CD230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Слишком много бесплатно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0273C7-A36A-4697-8DB1-E8C6EFF0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38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4D5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4D5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11E2A2-EF6C-48F8-A400-AF3AAD7C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383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7ABB2"/>
                </a:solidFill>
                <a:latin typeface="Arial"/>
                <a:ea typeface="Arial"/>
                <a:cs typeface="Arial"/>
              </a:rPr>
              <a:t>150 минут · scoring 8+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9A0E1-9B5D-496F-9878-1E51B219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BED4B8-4DDF-49DC-AA26-2D6773A8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Хвалят, но не покупают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4D227F-F0E6-4F85-B018-7C00BE07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62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4D5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4D5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0C36F-93E8-45B2-9E9A-61AD150D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622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7ABB2"/>
                </a:solidFill>
                <a:latin typeface="Arial"/>
                <a:ea typeface="Arial"/>
                <a:cs typeface="Arial"/>
              </a:rPr>
              <a:t>встроить платный следующий шаг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D67B22-04C9-471C-843E-EF611D45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B0B487-5A90-433A-8889-0F5060BE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Каждый концепт с нуля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764BAB-0300-45FE-B666-2A3337C4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4861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4D5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4D5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246458-EC1A-4AB0-BB68-4B73C8B8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861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7ABB2"/>
                </a:solidFill>
                <a:latin typeface="Arial"/>
                <a:ea typeface="Arial"/>
                <a:cs typeface="Arial"/>
              </a:rPr>
              <a:t>один сегмент · библиотека блоков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88B1B9-053C-4C2B-BDA0-58EE1F15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3D7761-0F8D-451E-85EE-8F3D6CBE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Delivery съедает продажи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18970A-22DC-4ED2-AFBB-1F71AF70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100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4D5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4D5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FA62CB-C6B5-4EB0-BB11-F51F4911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100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7ABB2"/>
                </a:solidFill>
                <a:latin typeface="Arial"/>
                <a:ea typeface="Arial"/>
                <a:cs typeface="Arial"/>
              </a:rPr>
              <a:t>защитить коммерческие слоты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3D2734-92D3-47E2-930E-5716B2F6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E83D49-F87B-41C3-85BF-EE7B7C14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Нет данных для кейса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7A7248-41D9-402D-A3C8-5655AD2B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9339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4D5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4D5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0AE451-F661-4968-A5ED-7E2B8FEE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339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7ABB2"/>
                </a:solidFill>
                <a:latin typeface="Arial"/>
                <a:ea typeface="Arial"/>
                <a:cs typeface="Arial"/>
              </a:rPr>
              <a:t>Метрика · исходная точка · review 14/30 дней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BB4784-C306-468B-AC80-117EBBF9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74BB1D-C5E6-4E57-86C0-190DCCB2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7ABB2"/>
                </a:solidFill>
                <a:latin typeface="Arial"/>
                <a:ea typeface="Arial"/>
                <a:cs typeface="Arial"/>
              </a:rPr>
              <a:t>Главная защита — границы бесплатной работы и непрерывность продаж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C1AB46-ABCA-46E8-AE6A-B6ED346B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ABB2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39936209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505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9B67A8-D267-4626-AFD3-3E0FA75D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ABB2"/>
                </a:solidFill>
                <a:latin typeface="Arial"/>
                <a:ea typeface="Arial"/>
                <a:cs typeface="Arial"/>
              </a:rPr>
              <a:t>BYTE / РЕШЕНИЕ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769F6-3C60-4DE4-B236-2514D9A7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572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Через 10 рабочих дней</a:t>
            </a:r>
          </a:p>
          <a:p xmlns:a="http://schemas.openxmlformats.org/drawingml/2006/main">
            <a:pPr algn="l">
              <a:defRPr sz="3900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у нас должен быть рынок,</a:t>
            </a:r>
          </a:p>
          <a:p xmlns:a="http://schemas.openxmlformats.org/drawingml/2006/main">
            <a:pPr algn="l">
              <a:defRPr sz="3900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а не ещё один план.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54514C-361F-4916-9E7B-634CDC43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84D5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84D5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CC612-2440-434C-B789-3160A805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7147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персональных Proof Page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67029-12CA-495D-B130-4AD1A2DB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19500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84D5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84D5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FDA7E-F4DD-4FA5-8017-FE0D628B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147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осмысленных контактов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8CF8D4-206A-4918-9C71-E85B4E85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19500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84D5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84D5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90A0A8-35F9-4596-AD56-A4493243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платное предложение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9DBFF4-C19B-4A5D-987D-B4E98DE6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ADF251-39A9-4E27-A9B3-BE8AC707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7905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Понедельник: выбрать сегменты и 30 компаний.</a:t>
            </a:r>
          </a:p>
          <a:p xmlns:a="http://schemas.openxmlformats.org/drawingml/2006/main">
            <a:pPr algn="l">
              <a:defRPr sz="2025" b="1">
                <a:solidFill>
                  <a:srgbClr val="F6F5F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6F5F0"/>
                </a:solidFill>
                <a:latin typeface="Arial"/>
                <a:ea typeface="Arial"/>
                <a:cs typeface="Arial"/>
              </a:rPr>
              <a:t>Пятница: отправить первый Proof Page.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425CDE-827C-47FF-B1FF-4F6B4AA8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4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CB1EAB-5919-4307-8EBF-C5883175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391150"/>
            <a:ext cx="1866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5050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50506"/>
                </a:solidFill>
                <a:latin typeface="Arial"/>
                <a:ea typeface="Arial"/>
                <a:cs typeface="Arial"/>
              </a:rPr>
              <a:t>НАЧАТЬ СЕЙЧАС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AFEC97-66B5-4D1A-B41A-713E27DA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7ABB2"/>
                </a:solidFill>
                <a:latin typeface="Arial"/>
                <a:ea typeface="Arial"/>
                <a:cs typeface="Arial"/>
              </a:rPr>
              <a:t>Стратегия Byte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71DC3B-130C-4E2C-B24F-A9AB71C6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AB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ABB2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7237602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2026-07-11T03:51:27.9450000Z</dcterms:created>
  <dcterms:modified xsi:type="dcterms:W3CDTF">2026-07-11T03:51:27.9450000Z</dcterms:modified>
</coreProperties>
</file>